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200"/>
              </a:spcAft>
            </a:pPr>
            <a:r>
              <a:rPr b="1"/>
              <a:t>Timing plan (45 min)</a:t>
            </a:r>
          </a:p>
          <a:p>
            <a:pPr>
              <a:spcAft>
                <a:spcPts val="0"/>
              </a:spcAft>
            </a:pPr>
            <a:r>
              <a:rPr/>
              <a:t>Slide 1 · Cover: 0:45, ends at 0:45</a:t>
            </a:r>
          </a:p>
          <a:p>
            <a:pPr>
              <a:spcAft>
                <a:spcPts val="0"/>
              </a:spcAft>
            </a:pPr>
            <a:r>
              <a:rPr/>
              <a:t>Slide 2 · A transformer, one token at a time: 4:00, ends at 4:45</a:t>
            </a:r>
          </a:p>
          <a:p>
            <a:pPr>
              <a:spcAft>
                <a:spcPts val="0"/>
              </a:spcAft>
            </a:pPr>
            <a:r>
              <a:rPr/>
              <a:t>Slide 3 · Attention and the KV cache: 4:45, ends at 9:30</a:t>
            </a:r>
          </a:p>
          <a:p>
            <a:pPr>
              <a:spcAft>
                <a:spcPts val="0"/>
              </a:spcAft>
            </a:pPr>
            <a:r>
              <a:rPr/>
              <a:t>Slide 4 · RoPE: 3:30, ends at 13:00</a:t>
            </a:r>
          </a:p>
          <a:p>
            <a:pPr>
              <a:spcAft>
                <a:spcPts val="0"/>
              </a:spcAft>
            </a:pPr>
            <a:r>
              <a:rPr/>
              <a:t>Slide 5 · Prefix caching in vLLM and SGLang: 3:00, ends at 16:00, checkpoint: background done</a:t>
            </a:r>
          </a:p>
          <a:p>
            <a:pPr>
              <a:spcAft>
                <a:spcPts val="0"/>
              </a:spcAft>
            </a:pPr>
            <a:r>
              <a:rPr/>
              <a:t>Slide 6 · Why gluing breaks: 3:45, ends at 19:45, checkpoint: problem stated</a:t>
            </a:r>
          </a:p>
          <a:p>
            <a:pPr>
              <a:spcAft>
                <a:spcPts val="0"/>
              </a:spcAft>
            </a:pPr>
            <a:r>
              <a:rPr/>
              <a:t>Slide 7 · CacheBlend: 3:30, ends at 23:15</a:t>
            </a:r>
          </a:p>
          <a:p>
            <a:pPr>
              <a:spcAft>
                <a:spcPts val="0"/>
              </a:spcAft>
            </a:pPr>
            <a:r>
              <a:rPr/>
              <a:t>Slide 8 · EPIC: 3:00, ends at 26:15</a:t>
            </a:r>
          </a:p>
          <a:p>
            <a:pPr>
              <a:spcAft>
                <a:spcPts val="0"/>
              </a:spcAft>
            </a:pPr>
            <a:r>
              <a:rPr/>
              <a:t>Slide 9 · KVLink: 3:00, ends at 29:15</a:t>
            </a:r>
          </a:p>
          <a:p>
            <a:pPr>
              <a:spcAft>
                <a:spcPts val="0"/>
              </a:spcAft>
            </a:pPr>
            <a:r>
              <a:rPr/>
              <a:t>Slide 10 · One storyline: 2:00, ends at 31:15, checkpoint: papers done</a:t>
            </a:r>
          </a:p>
          <a:p>
            <a:pPr>
              <a:spcAft>
                <a:spcPts val="0"/>
              </a:spcAft>
            </a:pPr>
            <a:r>
              <a:rPr/>
              <a:t>Slide 11 · Why KV reuse matters for our agent: 3:15, ends at 34:30</a:t>
            </a:r>
          </a:p>
          <a:p>
            <a:pPr>
              <a:spcAft>
                <a:spcPts val="0"/>
              </a:spcAft>
            </a:pPr>
            <a:r>
              <a:rPr/>
              <a:t>Slide 12 · Qwen3-32B, every arm on every metric: 2:45, ends at 37:15</a:t>
            </a:r>
          </a:p>
          <a:p>
            <a:pPr>
              <a:spcAft>
                <a:spcPts val="0"/>
              </a:spcAft>
            </a:pPr>
            <a:r>
              <a:rPr/>
              <a:t>Slide 13 · Qwen3-8B, every arm on every metric: 1:45, ends at 39:00</a:t>
            </a:r>
          </a:p>
          <a:p>
            <a:pPr>
              <a:spcAft>
                <a:spcPts val="0"/>
              </a:spcAft>
            </a:pPr>
            <a:r>
              <a:rPr/>
              <a:t>Slide 14 · Which tokens to re-prefill: 2:30, ends at 41:30</a:t>
            </a:r>
          </a:p>
          <a:p>
            <a:pPr>
              <a:spcAft>
                <a:spcPts val="0"/>
              </a:spcAft>
            </a:pPr>
            <a:r>
              <a:rPr/>
              <a:t>Slide 15 · What the repairs cost in time: 2:00, ends at 43:30, checkpoint: results done</a:t>
            </a:r>
          </a:p>
          <a:p>
            <a:pPr>
              <a:spcAft>
                <a:spcPts val="0"/>
              </a:spcAft>
            </a:pPr>
            <a:r>
              <a:rPr/>
              <a:t>Slide 16 · TL;DR: 1:30, ends at 45:00</a:t>
            </a:r>
          </a:p>
          <a:p>
            <a:pPr>
              <a:spcAft>
                <a:spcPts val="400"/>
              </a:spcAft>
            </a:pPr>
            <a:r>
              <a:rPr/>
              <a:t/>
            </a:r>
          </a:p>
          <a:p>
            <a:pPr>
              <a:spcAft>
                <a:spcPts val="600"/>
              </a:spcAft>
            </a:pPr>
            <a:r>
              <a:rPr b="1"/>
              <a:t>0:00 → 0:45.</a:t>
            </a:r>
            <a:r>
              <a:rPr/>
              <a:t> Goal: say what the talk is about and show the map.</a:t>
            </a:r>
          </a:p>
          <a:p>
            <a:pPr>
              <a:spcAft>
                <a:spcPts val="600"/>
              </a:spcAft>
            </a:pPr>
            <a:r>
              <a:rPr/>
              <a:t>Hi everyone. Today's paper reading is about one idea: reusing a language model's cache when the beginning of the prompt changes.</a:t>
            </a:r>
          </a:p>
          <a:p>
            <a:pPr>
              <a:spcAft>
                <a:spcPts val="600"/>
              </a:spcAft>
            </a:pPr>
            <a:r>
              <a:rPr/>
              <a:t>When a model reads a prompt, it computes and keeps some numbers for every token, called keys and values. Serving engines reuse them, but only if the next prompt starts with exactly the same tokens. Today we'll see why gluing separately computed pieces together breaks, how three recent papers repair it, and what our own experiment found.</a:t>
            </a:r>
          </a:p>
          <a:p>
            <a:pPr>
              <a:spcAft>
                <a:spcPts val="600"/>
              </a:spcAft>
            </a:pPr>
            <a:r>
              <a:rPr i="1"/>
              <a:t>(Point to the agenda.)</a:t>
            </a:r>
            <a:r>
              <a:rPr/>
              <a:t> Four parts and a one-slide summary. You don't need any transformer background; we'll build it up from scratch.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600"/>
              </a:spcAft>
            </a:pPr>
            <a:r>
              <a:rPr b="1"/>
              <a:t>0:45 → 4:45.</a:t>
            </a:r>
            <a:r>
              <a:rPr/>
              <a:t> Goal: prefill versus decode, and attention is the only place where tokens mix.</a:t>
            </a:r>
          </a:p>
          <a:p>
            <a:pPr>
              <a:spcAft>
                <a:spcPts val="600"/>
              </a:spcAft>
            </a:pPr>
            <a:r>
              <a:rPr/>
              <a:t>Let's start with what a language model actually does.</a:t>
            </a:r>
          </a:p>
          <a:p>
            <a:pPr>
              <a:spcAft>
                <a:spcPts val="600"/>
              </a:spcAft>
            </a:pPr>
            <a:r>
              <a:rPr i="1"/>
              <a:t>(Point to pass 1 in the left figure.)</a:t>
            </a:r>
            <a:r>
              <a:rPr/>
              <a:t> It reads a prompt, "The cat sat on the", and produces one next token: "mat". This first pass is called </a:t>
            </a:r>
            <a:r>
              <a:rPr b="1"/>
              <a:t>prefill</a:t>
            </a:r>
            <a:r>
              <a:rPr/>
              <a:t>: the whole prompt goes through the model at once. The orange boxes are the tokens computed in that pass. Prefill is efficient because all the prompt's tokens go through in parallel.</a:t>
            </a:r>
          </a:p>
          <a:p>
            <a:pPr>
              <a:spcAft>
                <a:spcPts val="600"/>
              </a:spcAft>
            </a:pPr>
            <a:r>
              <a:rPr i="1"/>
              <a:t>(Follow the orange "fed back in" arrow.)</a:t>
            </a:r>
            <a:r>
              <a:rPr/>
              <a:t> Then the new token is fed back in. In pass 2 only "mat" is new, so it's the only orange box. The grey boxes are things kept from earlier passes, and that kept material is the KV cache, the star of today's talk. The model outputs a period, feeds it back, and in pass 3 it outputs an end token. Each of these one-token passes is a </a:t>
            </a:r>
            <a:r>
              <a:rPr b="1"/>
              <a:t>decode</a:t>
            </a:r>
            <a:r>
              <a:rPr/>
              <a:t> step, and decode can only ever produce one token per pass.</a:t>
            </a:r>
          </a:p>
          <a:p>
            <a:pPr>
              <a:spcAft>
                <a:spcPts val="600"/>
              </a:spcAft>
            </a:pPr>
            <a:r>
              <a:rPr/>
              <a:t>A </a:t>
            </a:r>
            <a:r>
              <a:rPr b="1"/>
              <a:t>token</a:t>
            </a:r>
            <a:r>
              <a:rPr/>
              <a:t> is a word piece. Qwen3, the model family we'll use all day, knows 151,936 of them, and every pass outputs a probability for each one; the next token is picked from those.</a:t>
            </a:r>
          </a:p>
          <a:p>
            <a:pPr>
              <a:spcAft>
                <a:spcPts val="600"/>
              </a:spcAft>
            </a:pPr>
            <a:r>
              <a:rPr i="1"/>
              <a:t>(Point to the right diagram.)</a:t>
            </a:r>
            <a:r>
              <a:rPr/>
              <a:t> So what's inside "model"? A stack of identical blocks; Qwen3-8B has 36. Here's one block, with the shape of the data written next to every step. B is the batch, the number of requests processed together. S is the number of tokens. d_model is how many numbers describe one token: 4,096 in Qwen3-8B.</a:t>
            </a:r>
          </a:p>
          <a:p>
            <a:pPr>
              <a:spcAft>
                <a:spcPts val="600"/>
              </a:spcAft>
            </a:pPr>
            <a:r>
              <a:rPr i="1"/>
              <a:t>(Trace the attention half from the top.)</a:t>
            </a:r>
            <a:r>
              <a:rPr/>
              <a:t> The left half is </a:t>
            </a:r>
            <a:r>
              <a:rPr b="1"/>
              <a:t>attention</a:t>
            </a:r>
            <a:r>
              <a:rPr/>
              <a:t>. We normalize the input and multiply it by three weight matrices to get queries, keys and values. Each is split into 32 heads of 128 numbers, and 32 times 128 is 4,096 again. RoPE, which gets its own slide, rotates the queries and keys; notice that the values skip it. Then every query is compared with every key, with a causal mask so that no token can look ahead. That's the B by H by S by S score matrix: one score for every pair of tokens, in every head. That S by S is why long prompts get expensive: double the tokens and you get four times the scores. A softmax turns the scores into weights, the weights mix the values, the heads are glued back together, and an output projection returns to 4,096 numbers per token.</a:t>
            </a:r>
          </a:p>
          <a:p>
            <a:pPr>
              <a:spcAft>
                <a:spcPts val="600"/>
              </a:spcAft>
            </a:pPr>
            <a:r>
              <a:rPr i="1"/>
              <a:t>(Point to the + circle under attention.)</a:t>
            </a:r>
            <a:r>
              <a:rPr/>
              <a:t> Then the block's input is added back. That's the </a:t>
            </a:r>
            <a:r>
              <a:rPr b="1"/>
              <a:t>residual</a:t>
            </a:r>
            <a:r>
              <a:rPr/>
              <a:t> path: each token carries a running representation, and each block adds a correction to it.</a:t>
            </a:r>
          </a:p>
          <a:p>
            <a:pPr>
              <a:spcAft>
                <a:spcPts val="600"/>
              </a:spcAft>
            </a:pPr>
            <a:r>
              <a:rPr i="1"/>
              <a:t>(Trace the MLP half.)</a:t>
            </a:r>
            <a:r>
              <a:rPr/>
              <a:t> The right half is the </a:t>
            </a:r>
            <a:r>
              <a:rPr b="1"/>
              <a:t>MLP</a:t>
            </a:r>
            <a:r>
              <a:rPr/>
              <a:t>, which works on each token separately. Two projections, a gate and an "up", expand to 12,288 numbers; they're multiplied element by element, projected back down to 4,096, and the residual is added again. The output has exactly the shape of the input, which is why we can stack 36 of these.</a:t>
            </a:r>
          </a:p>
          <a:p>
            <a:pPr>
              <a:spcAft>
                <a:spcPts val="600"/>
              </a:spcAft>
            </a:pPr>
            <a:r>
              <a:rPr/>
              <a:t>If you remember one thing from this slide: attention is the only place where tokens exchange information. The MLP never mixes tokens. So everything about reusing caches today is really about attention.</a:t>
            </a:r>
          </a:p>
          <a:p>
            <a:pPr>
              <a:spcAft>
                <a:spcPts val="600"/>
              </a:spcAft>
            </a:pPr>
            <a:r>
              <a:rPr i="1"/>
              <a:t>If short:</a:t>
            </a:r>
            <a:r>
              <a:rPr/>
              <a:t> skip the MLP paragraph; say "the MLP transforms each token on its own".</a:t>
            </a:r>
          </a:p>
          <a:p>
            <a:pPr>
              <a:spcAft>
                <a:spcPts val="200"/>
              </a:spcAft>
            </a:pPr>
            <a:r>
              <a:rPr b="1"/>
              <a:t>If asked</a:t>
            </a:r>
          </a:p>
          <a:p>
            <a:pPr>
              <a:spcAft>
                <a:spcPts val="600"/>
              </a:spcAft>
            </a:pPr>
            <a:r>
              <a:rPr b="1"/>
              <a:t>What are the "shared key/value heads" in the footer?</a:t>
            </a:r>
            <a:r>
              <a:rPr/>
              <a:t> Qwen3 uses grouped-query attention: several query heads share one key/value head (32 query heads over 8 key/value heads in Qwen3-8B, 64 over 8 in Qwen3-32B). It shrinks the cache; nothing else in the talk changes.</a:t>
            </a:r>
          </a:p>
          <a:p>
            <a:pPr>
              <a:spcAft>
                <a:spcPts val="600"/>
              </a:spcAft>
            </a:pPr>
            <a:r>
              <a:rPr b="1"/>
              <a:t>What does RMSNorm do?</a:t>
            </a:r>
            <a:r>
              <a:rPr/>
              <a:t> It divides each token's vector by its root-mean-square and multiplies by learned weights, so the numbers stay in a stable range from block to block.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600"/>
              </a:spcAft>
            </a:pPr>
            <a:r>
              <a:rPr b="1"/>
              <a:t>4:45 → 9:30.</a:t>
            </a:r>
            <a:r>
              <a:rPr/>
              <a:t> Goal: the database analogy, causality gives the KV cache, and the question of why there is no Q cache.</a:t>
            </a:r>
          </a:p>
          <a:p>
            <a:pPr>
              <a:spcAft>
                <a:spcPts val="600"/>
              </a:spcAft>
            </a:pPr>
            <a:r>
              <a:rPr/>
              <a:t>Now let's zoom in on attention, because that's where the cache comes from.</a:t>
            </a:r>
          </a:p>
          <a:p>
            <a:pPr>
              <a:spcAft>
                <a:spcPts val="600"/>
              </a:spcAft>
            </a:pPr>
            <a:r>
              <a:rPr i="1"/>
              <a:t>(Point to "A soft database lookup".)</a:t>
            </a:r>
            <a:r>
              <a:rPr/>
              <a:t> The names query, key and value come from databases. You send a query; the database finds the entry whose key matches and returns that entry's value. Attention is a soft version of this. Token i's query is compared with every earlier token's key, and instead of returning one value, attention returns a weighted average of all their values, with more weight where the key matches the query better.</a:t>
            </a:r>
          </a:p>
          <a:p>
            <a:pPr>
              <a:spcAft>
                <a:spcPts val="600"/>
              </a:spcAft>
            </a:pPr>
            <a:r>
              <a:rPr i="1"/>
              <a:t>(Point to the formula box.)</a:t>
            </a:r>
            <a:r>
              <a:rPr/>
              <a:t> In symbols: each token's vector x is a row, and the weight matrices multiply from the right. q is x times W_q, and the same for k and v. The output for token i sums, over tokens j up to i, the softmax of q_i dot k_j, divided by root d_head, times v_j. The root d_head only keeps the scores in a sensible range.</a:t>
            </a:r>
          </a:p>
          <a:p>
            <a:pPr>
              <a:spcAft>
                <a:spcPts val="600"/>
              </a:spcAft>
            </a:pPr>
            <a:r>
              <a:rPr i="1"/>
              <a:t>(Point to the heat map.)</a:t>
            </a:r>
            <a:r>
              <a:rPr/>
              <a:t> This heat map is real: I ran Qwen3-8B on "The cat sat on the mat" and averaged the 32 heads of its first layer. Each row is the token doing the reading, each column the token being read, and each row sums to one. Read the second row: "cat" can only look at "The" and at itself, and it splits its attention 0.61 to 0.39. The last row, "mat", spreads its attention over all six tokens, most of it on "the" and on itself. The upper triangle is empty because a token never reads a later token. That's </a:t>
            </a:r>
            <a:r>
              <a:rPr b="1"/>
              <a:t>causal</a:t>
            </a:r>
            <a:r>
              <a:rPr/>
              <a:t> attention.</a:t>
            </a:r>
          </a:p>
          <a:p>
            <a:pPr>
              <a:spcAft>
                <a:spcPts val="600"/>
              </a:spcAft>
            </a:pPr>
            <a:r>
              <a:rPr i="1"/>
              <a:t>(Point to the underlined sentence.)</a:t>
            </a:r>
            <a:r>
              <a:rPr/>
              <a:t> Keep this warning for later. Only in this first layer are the rows and columns really the words. From the second layer on, each position holds a hidden state that has already mixed in the tokens before it. It's no longer just "cat"; it's "cat, having read 'The'". That's exactly why a reused cache carries its old context, as we'll see on slide 6.</a:t>
            </a:r>
          </a:p>
          <a:p>
            <a:pPr>
              <a:spcAft>
                <a:spcPts val="600"/>
              </a:spcAft>
            </a:pPr>
            <a:r>
              <a:rPr i="1"/>
              <a:t>(Point to "Causal, so cacheable".)</a:t>
            </a:r>
            <a:r>
              <a:rPr/>
              <a:t> Now the payoff. Because token i reads only tokens 1 to i, the keys and values of earlier tokens never change when a new token arrives. So we store them: that's the </a:t>
            </a:r>
            <a:r>
              <a:rPr b="1"/>
              <a:t>KV cache</a:t>
            </a:r>
            <a:r>
              <a:rPr/>
              <a:t>. To produce token i we compute only its own q, k and v, and the first i minus 1 tokens never have to be prefilled again. It's like taking notes while you read: to continue, you look at your notes instead of re-reading the whole book.</a:t>
            </a:r>
          </a:p>
          <a:p>
            <a:pPr>
              <a:spcAft>
                <a:spcPts val="600"/>
              </a:spcAft>
            </a:pPr>
            <a:r>
              <a:rPr b="1"/>
              <a:t>ASK:</a:t>
            </a:r>
            <a:r>
              <a:rPr/>
              <a:t> </a:t>
            </a:r>
            <a:r>
              <a:rPr i="1"/>
              <a:t>(Point to the question box.)</a:t>
            </a:r>
            <a:r>
              <a:rPr/>
              <a:t> We cache K and V. Why don't we cache Q? </a:t>
            </a:r>
            <a:r>
              <a:rPr i="1"/>
              <a:t>(Wait about ten seconds.)</a:t>
            </a:r>
          </a:p>
          <a:p>
            <a:pPr>
              <a:spcAft>
                <a:spcPts val="600"/>
              </a:spcAft>
            </a:pPr>
            <a:r>
              <a:rPr/>
              <a:t>A query is used exactly once, to compute its own token's output, and once that output exists, the query is done. A new token brings its own new query, compares it with the old keys, and reads the old values. So later steps only ever need K and V.</a:t>
            </a:r>
          </a:p>
          <a:p>
            <a:pPr>
              <a:spcAft>
                <a:spcPts val="600"/>
              </a:spcAft>
            </a:pPr>
            <a:r>
              <a:rPr i="1"/>
              <a:t>(Point to the right figure.)</a:t>
            </a:r>
            <a:r>
              <a:rPr/>
              <a:t> Here's what that saves. To generate three tokens after "The cat sat", without a cache every step recomputes every token so far: 18 token computations. With a KV cache, each step computes only the newest token: 6. And the gap grows quickly as the text gets longer.</a:t>
            </a:r>
          </a:p>
          <a:p>
            <a:pPr>
              <a:spcAft>
                <a:spcPts val="600"/>
              </a:spcAft>
            </a:pPr>
            <a:r>
              <a:rPr i="1"/>
              <a:t>(Point to the formula at the bottom right.)</a:t>
            </a:r>
            <a:r>
              <a:rPr/>
              <a:t> The price is memory. Per token we store two tensors, K and V, for every layer, for each of the 8 key/value heads, 128 numbers each, at 2 bytes per number. That's 144 KiB per token on Qwen3-8B and 256 KiB on Qwen3-32B. A typical prompt in our experiment, 9,054 tokens, holds 1.24 GiB of cache on the 8B model and 2.21 GiB on the 32B. So engines work hard to keep and reuse it.</a:t>
            </a:r>
          </a:p>
          <a:p>
            <a:pPr>
              <a:spcAft>
                <a:spcPts val="600"/>
              </a:spcAft>
            </a:pPr>
            <a:r>
              <a:rPr i="1"/>
              <a:t>If short:</a:t>
            </a:r>
            <a:r>
              <a:rPr/>
              <a:t> skip the heat-map readings and the memory arithmetic; keep the ASK.</a:t>
            </a:r>
          </a:p>
          <a:p>
            <a:pPr>
              <a:spcAft>
                <a:spcPts val="200"/>
              </a:spcAft>
            </a:pPr>
            <a:r>
              <a:rPr b="1"/>
              <a:t>If asked</a:t>
            </a:r>
          </a:p>
          <a:p>
            <a:pPr>
              <a:spcAft>
                <a:spcPts val="600"/>
              </a:spcAft>
            </a:pPr>
            <a:r>
              <a:rPr b="1"/>
              <a:t>Why divide by root d_head?</a:t>
            </a:r>
            <a:r>
              <a:rPr/>
              <a:t> Dot products of 128-number vectors grow large; dividing by √128 keeps the softmax from putting all its weight on a single token.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600"/>
              </a:spcAft>
            </a:pPr>
            <a:r>
              <a:rPr b="1"/>
              <a:t>9:30 → 13:00.</a:t>
            </a:r>
            <a:r>
              <a:rPr/>
              <a:t> Goal: position is a rotation of Q and K only, so a cached key can be moved exactly.</a:t>
            </a:r>
          </a:p>
          <a:p>
            <a:pPr>
              <a:spcAft>
                <a:spcPts val="600"/>
              </a:spcAft>
            </a:pPr>
            <a:r>
              <a:rPr/>
              <a:t>There's one thing attention on its own doesn't know: where tokens are. The score, q dot k, is just a dot product; it gives the same answer whether two tokens are neighbours or a thousand tokens apart. So position has to be added. Qwen3, like most modern models, uses </a:t>
            </a:r>
            <a:r>
              <a:rPr b="1"/>
              <a:t>RoPE</a:t>
            </a:r>
            <a:r>
              <a:rPr/>
              <a:t>, rotary position embedding.</a:t>
            </a:r>
          </a:p>
          <a:p>
            <a:pPr>
              <a:spcAft>
                <a:spcPts val="600"/>
              </a:spcAft>
            </a:pPr>
            <a:r>
              <a:rPr i="1"/>
              <a:t>(Point to the circle.)</a:t>
            </a:r>
            <a:r>
              <a:rPr/>
              <a:t> The idea: cut each 128-number query and key into 64 pairs, and treat each pair as an arrow in two dimensions. Then rotate the arrow by an angle that grows with the token's position. Here's one pair of one key: at position n it points here, and if the same key sat δ positions later, it would be turned by R of δ more. A rotation never changes an arrow's length, only its direction, so position is added without stretching or shrinking the key.</a:t>
            </a:r>
          </a:p>
          <a:p>
            <a:pPr>
              <a:spcAft>
                <a:spcPts val="600"/>
              </a:spcAft>
            </a:pPr>
            <a:r>
              <a:rPr/>
              <a:t>Each pair turns at its own speed, like the hands of a clock. Pair 0 turns one radian per token, fast enough to tell neighbours apart. Pair 63 turns about a millionth of a radian per token, so it tracks very long distances.</a:t>
            </a:r>
          </a:p>
          <a:p>
            <a:pPr>
              <a:spcAft>
                <a:spcPts val="600"/>
              </a:spcAft>
            </a:pPr>
            <a:r>
              <a:rPr i="1"/>
              <a:t>(Point to "attention sees" in the formula box.)</a:t>
            </a:r>
            <a:r>
              <a:rPr/>
              <a:t> Why rotations? The query at position m is rotated by R_m, and the key at position n by R_n. In their dot product the two rotations combine into a single rotation by m minus n. So attention sees only the </a:t>
            </a:r>
            <a:r>
              <a:rPr b="1"/>
              <a:t>distance</a:t>
            </a:r>
            <a:r>
              <a:rPr/>
              <a:t> between two tokens, not where they sit. A query at position 10 and a key at position 7 score exactly as a query at 110 and a key at 107 would: both pairs are 3 apart. It's like giving directions as "three houses down" instead of a street address.</a:t>
            </a:r>
          </a:p>
          <a:p>
            <a:pPr>
              <a:spcAft>
                <a:spcPts val="600"/>
              </a:spcAft>
            </a:pPr>
            <a:r>
              <a:rPr i="1"/>
              <a:t>(Point to the second bullet.)</a:t>
            </a:r>
            <a:r>
              <a:rPr/>
              <a:t> And why only queries and keys, not values? Because distance belongs in the score, and q dot k already sees exactly that. Values are what a token passes on into other tokens' outputs. If we rotated the values by their own positions, every output would get absolute positions stamped into it, which is exactly what we set out to avoid.</a:t>
            </a:r>
          </a:p>
          <a:p>
            <a:pPr>
              <a:spcAft>
                <a:spcPts val="600"/>
              </a:spcAft>
            </a:pPr>
            <a:r>
              <a:rPr i="1"/>
              <a:t>(Point to "move a cached key".)</a:t>
            </a:r>
            <a:r>
              <a:rPr/>
              <a:t> Now the property this whole talk leans on. Say we computed a key at position n, and now the same text sits at position n plus δ. We don't recompute anything: one more rotation, by δ, gives the key for the new position. Our experiments call this </a:t>
            </a:r>
            <a:r>
              <a:rPr b="1"/>
              <a:t>shift RoPE</a:t>
            </a:r>
            <a:r>
              <a:rPr/>
              <a:t>.</a:t>
            </a:r>
          </a:p>
          <a:p>
            <a:pPr>
              <a:spcAft>
                <a:spcPts val="600"/>
              </a:spcAft>
            </a:pPr>
            <a:r>
              <a:rPr i="1"/>
              <a:t>(Point to the bold sentence.)</a:t>
            </a:r>
            <a:r>
              <a:rPr/>
              <a:t> So a rotation fixes the position part of a cached key exactly. Remember the words "position part". Two slides from now we'll see what a rotation can't fix.</a:t>
            </a:r>
          </a:p>
          <a:p>
            <a:pPr>
              <a:spcAft>
                <a:spcPts val="600"/>
              </a:spcAft>
            </a:pPr>
            <a:r>
              <a:rPr i="1"/>
              <a:t>If short:</a:t>
            </a:r>
            <a:r>
              <a:rPr/>
              <a:t> skip the clock-hand paragraph.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600"/>
              </a:spcAft>
            </a:pPr>
            <a:r>
              <a:rPr b="1"/>
              <a:t>13:00 → 16:00.</a:t>
            </a:r>
            <a:r>
              <a:rPr/>
              <a:t> Goal: engines reuse only exact prefixes, for a good reason, and that wastes unchanged text.</a:t>
            </a:r>
          </a:p>
          <a:p>
            <a:pPr>
              <a:spcAft>
                <a:spcPts val="600"/>
              </a:spcAft>
            </a:pPr>
            <a:r>
              <a:rPr/>
              <a:t>We have a cache, and it's expensive. So when a new request arrives, can we reuse the cache from an earlier one? The two most popular open-source serving engines, vLLM and SGLang, both do this, and both follow the same rule: </a:t>
            </a:r>
            <a:r>
              <a:rPr b="1"/>
              <a:t>exact prefix only</a:t>
            </a:r>
            <a:r>
              <a:rPr/>
              <a:t>.</a:t>
            </a:r>
          </a:p>
          <a:p>
            <a:pPr>
              <a:spcAft>
                <a:spcPts val="600"/>
              </a:spcAft>
            </a:pPr>
            <a:r>
              <a:rPr i="1"/>
              <a:t>(Point to the vLLM figure.)</a:t>
            </a:r>
            <a:r>
              <a:rPr/>
              <a:t> vLLM cuts the prompt into blocks of 16 tokens. Each block gets a hash, and each hash includes the previous block's hash, like links in a chain. Request A is cached. Request B shares blocks 0 and 1: hits. Block 2 was edited, so its hash changes. Now look at block 3. Its tokens are exactly the same as before, but its hash includes block 2's, so it changes too, and block 3 misses. Everything after the first edited block is prefilled again.</a:t>
            </a:r>
          </a:p>
          <a:p>
            <a:pPr>
              <a:spcAft>
                <a:spcPts val="600"/>
              </a:spcAft>
            </a:pPr>
            <a:r>
              <a:rPr i="1"/>
              <a:t>(Point to the SGLang tree.)</a:t>
            </a:r>
            <a:r>
              <a:rPr/>
              <a:t> SGLang stores cached prompts as a tree. A new request walks down from the root as far as its tokens match. Request B shares the system prompt and tools, but its first turn was edited, so it branches off there, and everything from the branch point on is prefilled.</a:t>
            </a:r>
          </a:p>
          <a:p>
            <a:pPr>
              <a:spcAft>
                <a:spcPts val="600"/>
              </a:spcAft>
            </a:pPr>
            <a:r>
              <a:rPr i="1"/>
              <a:t>(Wave at the table.)</a:t>
            </a:r>
            <a:r>
              <a:rPr/>
              <a:t> The bookkeeping differs, hashed blocks versus a token-level tree, with different eviction and scheduling. The rule is the same.</a:t>
            </a:r>
          </a:p>
          <a:p>
            <a:pPr>
              <a:spcAft>
                <a:spcPts val="600"/>
              </a:spcAft>
            </a:pPr>
            <a:r>
              <a:rPr/>
              <a:t>Why so strict? Go back to slide 3: every token's keys and values depend on all the tokens before it. Change one early token and, strictly speaking, every later key and value is different. The engines aren't being lazy; they're being correct. And exact reuse pays off: the SGLang paper reports up to 6.4 times higher throughput from it. When prompts only grow at the end, like a shared system prompt or a chat that appends messages, it works beautifully.</a:t>
            </a:r>
          </a:p>
          <a:p>
            <a:pPr>
              <a:spcAft>
                <a:spcPts val="600"/>
              </a:spcAft>
            </a:pPr>
            <a:r>
              <a:rPr i="1"/>
              <a:t>(Point to the bold sentence.)</a:t>
            </a:r>
            <a:r>
              <a:rPr/>
              <a:t> Here's the catch. Reuse stops at the first token that differs, even when everything after it is unchanged. Picture deleting one old message near the start of a long chat. The thousands of tokens after it haven't changed at all, they've only moved, yet the engine throws their cache away. Reusing that unchanged text is what the rest of this talk is about.</a:t>
            </a:r>
          </a:p>
          <a:p>
            <a:pPr>
              <a:spcAft>
                <a:spcPts val="600"/>
              </a:spcAft>
            </a:pPr>
            <a:r>
              <a:rPr i="1"/>
              <a:t>If short:</a:t>
            </a:r>
            <a:r>
              <a:rPr/>
              <a:t> skip the SGLang tree and the table.</a:t>
            </a:r>
          </a:p>
          <a:p>
            <a:pPr>
              <a:spcAft>
                <a:spcPts val="600"/>
              </a:spcAft>
            </a:pPr>
            <a:r>
              <a:rPr b="1"/>
              <a:t>Checkpoint: 16:00.</a:t>
            </a:r>
          </a:p>
          <a:p>
            <a:pPr>
              <a:spcAft>
                <a:spcPts val="200"/>
              </a:spcAft>
            </a:pPr>
            <a:r>
              <a:rPr b="1"/>
              <a:t>If asked</a:t>
            </a:r>
          </a:p>
          <a:p>
            <a:pPr>
              <a:spcAft>
                <a:spcPts val="600"/>
              </a:spcAft>
            </a:pPr>
            <a:r>
              <a:rPr b="1"/>
              <a:t>Why does vLLM match 16-token blocks instead of single tokens?</a:t>
            </a:r>
            <a:r>
              <a:rPr/>
              <a:t> vLLM stores the cache in fixed-size pages (PagedAttention), and matching whole pages keeps the bookkeeping cheap. SGLang's tree matches single tokens.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600"/>
              </a:spcAft>
            </a:pPr>
            <a:r>
              <a:rPr b="1"/>
              <a:t>16:00 → 19:45.</a:t>
            </a:r>
            <a:r>
              <a:rPr/>
              <a:t> Goal: two reasons, missing cross-attention and positions baked in above layer 0.</a:t>
            </a:r>
          </a:p>
          <a:p>
            <a:pPr>
              <a:spcAft>
                <a:spcPts val="600"/>
              </a:spcAft>
            </a:pPr>
            <a:r>
              <a:rPr/>
              <a:t>Let's try the simplest possible version of "reuse the unchanged text" and watch it break.</a:t>
            </a:r>
          </a:p>
          <a:p>
            <a:pPr>
              <a:spcAft>
                <a:spcPts val="600"/>
              </a:spcAft>
            </a:pPr>
            <a:r>
              <a:rPr/>
              <a:t>Take two sentences. A: "Alice owns a cat." B: "Her cat is black." Suppose we prefilled each one separately and cached it. Can we glue the two caches together and pretend we prefilled "Alice owns a cat. Her cat is black." in one go? There are two reasons we can't.</a:t>
            </a:r>
          </a:p>
          <a:p>
            <a:pPr>
              <a:spcAft>
                <a:spcPts val="600"/>
              </a:spcAft>
            </a:pPr>
            <a:r>
              <a:rPr i="1"/>
              <a:t>(Point to the left heat map.)</a:t>
            </a:r>
            <a:r>
              <a:rPr/>
              <a:t> </a:t>
            </a:r>
            <a:r>
              <a:rPr b="1"/>
              <a:t>Reason one: B never saw A.</a:t>
            </a:r>
            <a:r>
              <a:rPr/>
              <a:t> This is real attention from Qwen3-8B, layer 3. Prefilled together, B's tokens put 86% of their attention on A. That makes sense: to understand "Her", you need Alice.</a:t>
            </a:r>
          </a:p>
          <a:p>
            <a:pPr>
              <a:spcAft>
                <a:spcPts val="600"/>
              </a:spcAft>
            </a:pPr>
            <a:r>
              <a:rPr i="1"/>
              <a:t>(Point to the red box in the right heat map.)</a:t>
            </a:r>
            <a:r>
              <a:rPr/>
              <a:t> Prefilled apart, this whole block was never computed: B's cache has never seen A. And the attention that should have gone to A goes somewhere else, to "Her", which was the first token of its own little sequence. "Her" now gets 61% of B's attention, against 5% when prefilled together. Why there? Every row has to sum to one, so the softmax must put the weight somewhere. With A missing, much of that weight lands on the first token.</a:t>
            </a:r>
          </a:p>
          <a:p>
            <a:pPr>
              <a:spcAft>
                <a:spcPts val="600"/>
              </a:spcAft>
            </a:pPr>
            <a:r>
              <a:rPr i="1"/>
              <a:t>(Point to the caption.)</a:t>
            </a:r>
            <a:r>
              <a:rPr/>
              <a:t> It's not just layer 3. In every one of the 36 layers, prefilled together, B gives 47 to 95% of its attention to A. Prefilled apart, zero. And "Her" soaks up 25 to 94% of B's attention instead of 1 to 11%. Remember this first-token effect; it's the key to the second paper.</a:t>
            </a:r>
          </a:p>
          <a:p>
            <a:pPr>
              <a:spcAft>
                <a:spcPts val="600"/>
              </a:spcAft>
            </a:pPr>
            <a:r>
              <a:rPr i="1"/>
              <a:t>(Point to the grid on the right.)</a:t>
            </a:r>
            <a:r>
              <a:rPr/>
              <a:t> </a:t>
            </a:r>
            <a:r>
              <a:rPr b="1"/>
              <a:t>Reason two: position.</a:t>
            </a:r>
            <a:r>
              <a:rPr/>
              <a:t> Rows are layers, columns are tokens. B was cached at positions 0 to 4 but now sits at 5 to 9. At layer 0, the blue row, we can fix that exactly. A layer-0 key is just the token's embedding times W_k, rotated by its position, so re-rotating by δ = 5 gives exactly the key a joint prefill would compute. We checked this on real Qwen3 keys: the largest relative error was 5.5 times 10 to the minus 4, against 0.094 without the rotation.</a:t>
            </a:r>
          </a:p>
          <a:p>
            <a:pPr>
              <a:spcAft>
                <a:spcPts val="600"/>
              </a:spcAft>
            </a:pPr>
            <a:r>
              <a:rPr i="1"/>
              <a:t>(Point to the red rows.)</a:t>
            </a:r>
            <a:r>
              <a:rPr/>
              <a:t> But from layer 1 up, every key and value came out of attention and MLP layers, which are nonlinear, and those layers ran with B at its old positions and without A. "Her" was computed as the start of a sequence. Even B's "cat" is stale: its layer-1 key came from a hidden state that had read "Her" but never "Alice owns a cat". That's baked into the numbers now, and no rotation can take it out. This is slide 3's warning coming true.</a:t>
            </a:r>
          </a:p>
          <a:p>
            <a:pPr>
              <a:spcAft>
                <a:spcPts val="600"/>
              </a:spcAft>
            </a:pPr>
            <a:r>
              <a:rPr i="1"/>
              <a:t>(Point to the bold line.)</a:t>
            </a:r>
            <a:r>
              <a:rPr/>
              <a:t> So only a full prefill gives the true cache. All three papers ask the same question: which few tokens do we re-prefill to get close to it?</a:t>
            </a:r>
          </a:p>
          <a:p>
            <a:pPr>
              <a:spcAft>
                <a:spcPts val="600"/>
              </a:spcAft>
            </a:pPr>
            <a:r>
              <a:rPr b="1"/>
              <a:t>Checkpoint: 19:45.</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600"/>
              </a:spcAft>
            </a:pPr>
            <a:r>
              <a:rPr b="1"/>
              <a:t>19:45 → 23:15.</a:t>
            </a:r>
            <a:r>
              <a:rPr/>
              <a:t> Goal: sparse attention means only a few tokens need fixing, and they are found by measuring deviation.</a:t>
            </a:r>
          </a:p>
          <a:p>
            <a:pPr>
              <a:spcAft>
                <a:spcPts val="600"/>
              </a:spcAft>
            </a:pPr>
            <a:r>
              <a:rPr/>
              <a:t>Paper one: CacheBlend, from EuroSys 2025.</a:t>
            </a:r>
          </a:p>
          <a:p>
            <a:pPr>
              <a:spcAft>
                <a:spcPts val="600"/>
              </a:spcAft>
            </a:pPr>
            <a:r>
              <a:rPr i="1"/>
              <a:t>(Point to Figure 3.)</a:t>
            </a:r>
            <a:r>
              <a:rPr/>
              <a:t> Their setting is RAG, retrieval-augmented generation: retrieve a few chunks of text and glue them in front of a question. Here, chunk 1 says Messi scored 13 World Cup goals, chunk 2 says Ronaldo scored 8, and the question asks who scored more. With a full recompute, panel b, the model answers correctly. If you glue each chunk's own cached KV, panel c, it fails: chunk 2 never attended to chunk 1, so the model can't compare the two numbers. That's our Alice problem again. And prefix caching only helps with the first chunk.</a:t>
            </a:r>
          </a:p>
          <a:p>
            <a:pPr>
              <a:spcAft>
                <a:spcPts val="600"/>
              </a:spcAft>
            </a:pPr>
            <a:r>
              <a:rPr i="1"/>
              <a:t>(Point to "Key observations".)</a:t>
            </a:r>
            <a:r>
              <a:rPr/>
              <a:t> Two observations make a cheap fix possible. First, attention is sparse: a few tokens carry most of the importance, so only a few tokens' caches are badly damaged by gluing. Second, a token that deviates most at one layer tends to deviate most at the next. So you can find the damaged tokens early and keep that choice for the rest of the model.</a:t>
            </a:r>
          </a:p>
          <a:p>
            <a:pPr>
              <a:spcAft>
                <a:spcPts val="600"/>
              </a:spcAft>
            </a:pPr>
            <a:r>
              <a:rPr i="1"/>
              <a:t>(Point to "Method".)</a:t>
            </a:r>
            <a:r>
              <a:rPr/>
              <a:t> The method follows directly. Rotate every reused key to its new position, which is our shift RoPE. At the first layer, re-prefill every token and compare the fresh keys and values with the cached ones. Deviation just means how different the fresh ones are from the cached ones; since the keys were already rotated, what remains is the context damage from slide 6. Keep the top 15% that deviate most; the paper calls them high-KV-deviation, or HKVD, tokens. In later layers, re-prefill only those, narrowing the set as you go.</a:t>
            </a:r>
          </a:p>
          <a:p>
            <a:pPr>
              <a:spcAft>
                <a:spcPts val="600"/>
              </a:spcAft>
            </a:pPr>
            <a:r>
              <a:rPr/>
              <a:t>There's a neat systems trick too. Caches often live in CPU memory or on an SSD. Recomputing 15% of a layer takes about 3 ms, while loading the next layer's cache from an NVMe drive takes 16 ms, so the recompute hides behind the loading.</a:t>
            </a:r>
          </a:p>
          <a:p>
            <a:pPr>
              <a:spcAft>
                <a:spcPts val="600"/>
              </a:spcAft>
            </a:pPr>
            <a:r>
              <a:rPr i="1"/>
              <a:t>(Point to the results under the figure.)</a:t>
            </a:r>
            <a:r>
              <a:rPr/>
              <a:t> They report 2.2 to 3.3 times lower time to first token than full recompute, 2.8 to 5 times higher throughput, and quality within 0.01 to 0.03 of full recompute.</a:t>
            </a:r>
          </a:p>
          <a:p>
            <a:pPr>
              <a:spcAft>
                <a:spcPts val="600"/>
              </a:spcAft>
            </a:pPr>
            <a:r>
              <a:rPr i="1"/>
              <a:t>(Point to "In our experiment".)</a:t>
            </a:r>
            <a:r>
              <a:rPr/>
              <a:t> We ran two versions, re-prefilling 5% or 15% of the moved tokens. I'll define our tests in part 4, but in short: on Qwen3-32B both fully restore the model's ability to copy code exactly, while on Qwen3-8B they close only 45 to 66% of a second problem, knowing that a file has been removed.</a:t>
            </a:r>
          </a:p>
          <a:p>
            <a:pPr>
              <a:spcAft>
                <a:spcPts val="600"/>
              </a:spcAft>
            </a:pPr>
            <a:r>
              <a:rPr i="1"/>
              <a:t>If short:</a:t>
            </a:r>
            <a:r>
              <a:rPr/>
              <a:t> skip the NVMe paragraph.</a:t>
            </a:r>
          </a:p>
          <a:p>
            <a:pPr>
              <a:spcAft>
                <a:spcPts val="200"/>
              </a:spcAft>
            </a:pPr>
            <a:r>
              <a:rPr b="1"/>
              <a:t>If asked</a:t>
            </a:r>
          </a:p>
          <a:p>
            <a:pPr>
              <a:spcAft>
                <a:spcPts val="600"/>
              </a:spcAft>
            </a:pPr>
            <a:r>
              <a:rPr b="1"/>
              <a:t>Can EPIC and CacheBlend be combined?</a:t>
            </a:r>
            <a:r>
              <a:rPr/>
              <a:t> We didn't test that.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600"/>
              </a:spcAft>
            </a:pPr>
            <a:r>
              <a:rPr b="1"/>
              <a:t>23:15 → 26:15.</a:t>
            </a:r>
            <a:r>
              <a:rPr/>
              <a:t> Goal: attention sinks say which few tokens matter, the first ones of each chunk, so no search is needed.</a:t>
            </a:r>
          </a:p>
          <a:p>
            <a:pPr>
              <a:spcAft>
                <a:spcPts val="600"/>
              </a:spcAft>
            </a:pPr>
            <a:r>
              <a:rPr/>
              <a:t>Paper two: EPIC, from ICML 2025. Same problem as CacheBlend: chunks cached separately, each starting at position 0, then glued before a question. But EPIC starts from a different observation: </a:t>
            </a:r>
            <a:r>
              <a:rPr b="1"/>
              <a:t>attention sinks</a:t>
            </a:r>
            <a:r>
              <a:rPr/>
              <a:t>.</a:t>
            </a:r>
          </a:p>
          <a:p>
            <a:pPr>
              <a:spcAft>
                <a:spcPts val="600"/>
              </a:spcAft>
            </a:pPr>
            <a:r>
              <a:rPr i="1"/>
              <a:t>(Point to "Key observation".)</a:t>
            </a:r>
            <a:r>
              <a:rPr/>
              <a:t> Language models give a surprisingly large share of attention to the first tokens of a sequence. During generation every later token can see those first tokens, so the model learns to park attention there when it has nowhere better to put it. That's harmless in a normal prompt. But a chunk cached on its own also starts with "first tokens", so after gluing, every chunk start is a fake sink that pulls attention away from the content.</a:t>
            </a:r>
          </a:p>
          <a:p>
            <a:pPr>
              <a:spcAft>
                <a:spcPts val="600"/>
              </a:spcAft>
            </a:pPr>
            <a:r>
              <a:rPr i="1"/>
              <a:t>(Point to the naive row of Figure 4.)</a:t>
            </a:r>
            <a:r>
              <a:rPr/>
              <a:t> You can see it in their figure. In the naive glued version, attention piles up on each chunk's first token, the bright columns at positions 0, 16, 27 and 42, and the answer is wrong. We saw the same thing on slide 6, where "Her" took 25 to 94% of B's attention when B was prefilled alone.</a:t>
            </a:r>
          </a:p>
          <a:p>
            <a:pPr>
              <a:spcAft>
                <a:spcPts val="600"/>
              </a:spcAft>
            </a:pPr>
            <a:r>
              <a:rPr b="1"/>
              <a:t>ASK:</a:t>
            </a:r>
            <a:r>
              <a:rPr/>
              <a:t> If the damage concentrates on each chunk's first few tokens, what's the cheapest fix? </a:t>
            </a:r>
            <a:r>
              <a:rPr i="1"/>
              <a:t>(Pause.)</a:t>
            </a:r>
          </a:p>
          <a:p>
            <a:pPr>
              <a:spcAft>
                <a:spcPts val="600"/>
              </a:spcAft>
            </a:pPr>
            <a:r>
              <a:rPr/>
              <a:t>Re-prefill just those. </a:t>
            </a:r>
            <a:r>
              <a:rPr i="1"/>
              <a:t>(Point to the LegoLink row.)</a:t>
            </a:r>
            <a:r>
              <a:rPr/>
              <a:t> That's their method, LegoLink: re-prefill the first k tokens of every chunk except the first, with k at most 32, so those tokens see the real context. They skip the first chunk because it really does sit at the start of the prompt, so its sink is genuine. The attention frees up and the answer is right.</a:t>
            </a:r>
          </a:p>
          <a:p>
            <a:pPr>
              <a:spcAft>
                <a:spcPts val="600"/>
              </a:spcAft>
            </a:pPr>
            <a:r>
              <a:rPr/>
              <a:t>The big advantage is that the set is fixed in advance, with no measuring pass. CacheBlend must run a full layer over every token just to decide what to recompute, and EPIC reports that this selection takes 16 to 64% of CacheBlend's time to first token. </a:t>
            </a:r>
            <a:r>
              <a:rPr i="1"/>
              <a:t>(Point to the results.)</a:t>
            </a:r>
            <a:r>
              <a:rPr/>
              <a:t> EPIC reports up to 8 times lower time to first token than existing systems and up to 3 times faster than CacheBlend, with accuracy within 7% of CacheBlend's, already with k equal to 2.</a:t>
            </a:r>
          </a:p>
          <a:p>
            <a:pPr>
              <a:spcAft>
                <a:spcPts val="600"/>
              </a:spcAft>
            </a:pPr>
            <a:r>
              <a:rPr/>
              <a:t>A naming warning: EPIC calls its two steps KVCompile and KVLink. That's not the KVLink paper, which comes next.</a:t>
            </a:r>
          </a:p>
          <a:p>
            <a:pPr>
              <a:spcAft>
                <a:spcPts val="600"/>
              </a:spcAft>
            </a:pPr>
            <a:r>
              <a:rPr i="1"/>
              <a:t>(Point to "In our experiment".)</a:t>
            </a:r>
            <a:r>
              <a:rPr/>
              <a:t> Our versions re-prefill the first 32 or 128 tokens of each moved block, 4.4% or 10.8% of the moved tokens. EPIC 32 restores the 32B model's exact copying, and EPIC 128 brings the 8B model's "file is gone" answers back to 55.3%, against 57.5% for a full prefill.</a:t>
            </a:r>
          </a:p>
          <a:p>
            <a:pPr>
              <a:spcAft>
                <a:spcPts val="600"/>
              </a:spcAft>
            </a:pPr>
            <a:r>
              <a:rPr i="1"/>
              <a:t>If short:</a:t>
            </a:r>
            <a:r>
              <a:rPr/>
              <a:t> skip the paragraph on selection cost.</a:t>
            </a:r>
          </a:p>
          <a:p>
            <a:pPr>
              <a:spcAft>
                <a:spcPts val="200"/>
              </a:spcAft>
            </a:pPr>
            <a:r>
              <a:rPr b="1"/>
              <a:t>If asked</a:t>
            </a:r>
          </a:p>
          <a:p>
            <a:pPr>
              <a:spcAft>
                <a:spcPts val="600"/>
              </a:spcAft>
            </a:pPr>
            <a:r>
              <a:rPr b="1"/>
              <a:t>Can EPIC and CacheBlend be combined?</a:t>
            </a:r>
            <a:r>
              <a:rPr/>
              <a:t> We didn't test that.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600"/>
              </a:spcAft>
            </a:pPr>
            <a:r>
              <a:rPr b="1"/>
              <a:t>26:15 → 29:15.</a:t>
            </a:r>
            <a:r>
              <a:rPr/>
              <a:t> Goal: first tokens still carry meaning, so trained link tokens take over the reading, at the price of new weights.</a:t>
            </a:r>
          </a:p>
          <a:p>
            <a:pPr>
              <a:spcAft>
                <a:spcPts val="600"/>
              </a:spcAft>
            </a:pPr>
            <a:r>
              <a:rPr/>
              <a:t>Paper three: KVLink, from NeurIPS 2025. Same problem again: documents cached one by one, then glued before a question.</a:t>
            </a:r>
          </a:p>
          <a:p>
            <a:pPr>
              <a:spcAft>
                <a:spcPts val="600"/>
              </a:spcAft>
            </a:pPr>
            <a:r>
              <a:rPr i="1"/>
              <a:t>(Point to "Key observation".)</a:t>
            </a:r>
            <a:r>
              <a:rPr/>
              <a:t> Here's how I connect it to EPIC; this link is my reading, not the paper's own words. EPIC re-prefills each chunk's first tokens because they soak up attention. But those tokens are still real words with their own meaning, and when you re-prefill them, they mostly reconnect to the words related to them, not to everything that came before. So why not add tokens that mean nothing at all, trained for one job: reading every earlier token and carrying the documents' combined meaning forward?</a:t>
            </a:r>
          </a:p>
          <a:p>
            <a:pPr>
              <a:spcAft>
                <a:spcPts val="600"/>
              </a:spcAft>
            </a:pPr>
            <a:r>
              <a:rPr i="1"/>
              <a:t>(Point to the figure.)</a:t>
            </a:r>
            <a:r>
              <a:rPr/>
              <a:t> That's the method. After each document, KVLink appends five special </a:t>
            </a:r>
            <a:r>
              <a:rPr b="1"/>
              <a:t>link tokens</a:t>
            </a:r>
            <a:r>
              <a:rPr/>
              <a:t>. In the figure, link tokens are outlined; green means "may attend" and grey means "masked". Link 1 reads document a. Link 2 reads document a, link 1 and document b. Link 3 reads everything before it. The document tokens only ever read their own document. That's the trick: a document never looks outside itself, so its cache can be computed once, alone, and reused anywhere. Only the link tokens are computed fresh for each request, and they do all the reading across documents. Think of them as a summary card slipped in after each document, written by someone who has read everything so far. Positions are handled by storing each document's cache unrotated and rotating it into place at inference.</a:t>
            </a:r>
          </a:p>
          <a:p>
            <a:pPr>
              <a:spcAft>
                <a:spcPts val="600"/>
              </a:spcAft>
            </a:pPr>
            <a:r>
              <a:rPr/>
              <a:t>The model doesn't know how to use link tokens out of the box, so they fine-tune the whole model: 6,000 steps on question answering plus general data, on Llama models from 1B to 8B.</a:t>
            </a:r>
          </a:p>
          <a:p>
            <a:pPr>
              <a:spcAft>
                <a:spcPts val="600"/>
              </a:spcAft>
            </a:pPr>
            <a:r>
              <a:rPr i="1"/>
              <a:t>(Point to the results.)</a:t>
            </a:r>
            <a:r>
              <a:rPr/>
              <a:t> The payoff: about 4% higher QA accuracy on average than prior methods, across 7 datasets. On Llama-3.2-1B with Natural Questions it scores 45.0, against 39.0 for Block-Attention and 25.7 for CacheBlend. And it cuts time to first token by 96% at a 5,000-token context.</a:t>
            </a:r>
          </a:p>
          <a:p>
            <a:pPr>
              <a:spcAft>
                <a:spcPts val="600"/>
              </a:spcAft>
            </a:pPr>
            <a:r>
              <a:rPr b="1"/>
              <a:t>ASK:</a:t>
            </a:r>
            <a:r>
              <a:rPr/>
              <a:t> Sounds perfect. What's the catch for us? </a:t>
            </a:r>
            <a:r>
              <a:rPr i="1"/>
              <a:t>(Pause.)</a:t>
            </a:r>
          </a:p>
          <a:p>
            <a:pPr>
              <a:spcAft>
                <a:spcPts val="600"/>
              </a:spcAft>
            </a:pPr>
            <a:r>
              <a:rPr i="1"/>
              <a:t>(Point to "Trade-off".)</a:t>
            </a:r>
            <a:r>
              <a:rPr/>
              <a:t> The model's weights change. If a server has to run an existing model unmodified, it can't use KVLink. That's why our experiment doesn't test it.</a:t>
            </a:r>
          </a:p>
          <a:p>
            <a:pPr>
              <a:spcAft>
                <a:spcPts val="600"/>
              </a:spcAft>
            </a:pPr>
            <a:r>
              <a:rPr i="1"/>
              <a:t>If short:</a:t>
            </a:r>
            <a:r>
              <a:rPr/>
              <a:t> skip the fine-tuning paragraph.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600"/>
              </a:spcAft>
            </a:pPr>
            <a:r>
              <a:rPr b="1"/>
              <a:t>29:15 → 31:15.</a:t>
            </a:r>
            <a:r>
              <a:rPr/>
              <a:t> Goal: the three papers as one chain of observations.</a:t>
            </a:r>
          </a:p>
          <a:p>
            <a:pPr>
              <a:spcAft>
                <a:spcPts val="600"/>
              </a:spcAft>
            </a:pPr>
            <a:r>
              <a:rPr/>
              <a:t>Let's put the three papers side by side, because together they tell one story.</a:t>
            </a:r>
          </a:p>
          <a:p>
            <a:pPr>
              <a:spcAft>
                <a:spcPts val="600"/>
              </a:spcAft>
            </a:pPr>
            <a:r>
              <a:rPr i="1"/>
              <a:t>(Point to the three cards, left to right.)</a:t>
            </a:r>
            <a:r>
              <a:rPr/>
              <a:t> CacheBlend: attention is sparse, so only a few tokens carry the damage of gluing. Find them by measuring deviation, anew for every request, and re-prefill about 15%.</a:t>
            </a:r>
          </a:p>
          <a:p>
            <a:pPr>
              <a:spcAft>
                <a:spcPts val="600"/>
              </a:spcAft>
            </a:pPr>
            <a:r>
              <a:rPr/>
              <a:t>EPIC: attention sinks tell us which few tokens they are: each chunk's first tokens. So re-prefill the first k of each chunk, a rule fixed in advance with nothing to search.</a:t>
            </a:r>
          </a:p>
          <a:p>
            <a:pPr>
              <a:spcAft>
                <a:spcPts val="600"/>
              </a:spcAft>
            </a:pPr>
            <a:r>
              <a:rPr/>
              <a:t>KVLink: re-prefilled first tokens still carry their own meaning, so hand the job to dedicated link tokens that mean nothing and are trained to read and summarize everything before them. That costs a fine-tune.</a:t>
            </a:r>
          </a:p>
          <a:p>
            <a:pPr>
              <a:spcAft>
                <a:spcPts val="600"/>
              </a:spcAft>
            </a:pPr>
            <a:r>
              <a:rPr/>
              <a:t>Notice how each paper answers the question the previous one leaves open. CacheBlend asks which tokens are damaged. EPIC answers: the first ones. KVLink asks whether re-prefilling real first tokens is even the right tool.</a:t>
            </a:r>
          </a:p>
          <a:p>
            <a:pPr>
              <a:spcAft>
                <a:spcPts val="600"/>
              </a:spcAft>
            </a:pPr>
            <a:r>
              <a:rPr i="1"/>
              <a:t>(Point to the table.)</a:t>
            </a:r>
            <a:r>
              <a:rPr/>
              <a:t> The table says the same thing row by row. Selection cost goes from a full layer per request, to nothing, to a one-time fine-tune, and only KVLink changes the model.</a:t>
            </a:r>
          </a:p>
          <a:p>
            <a:pPr>
              <a:spcAft>
                <a:spcPts val="600"/>
              </a:spcAft>
            </a:pPr>
            <a:r>
              <a:rPr/>
              <a:t>One caution: each paper reports its own numbers, on its own models, datasets and hardware, so their gains are not a head-to-head comparison. That's exactly why we ran our own. Part 4 tests the two training-free rules, CacheBlend's and EPIC's, on real agent traffic; in our tables they are the arms CacheBlend 5% and 15%, and EPIC 32 and 128.</a:t>
            </a:r>
          </a:p>
          <a:p>
            <a:pPr>
              <a:spcAft>
                <a:spcPts val="600"/>
              </a:spcAft>
            </a:pPr>
            <a:r>
              <a:rPr b="1"/>
              <a:t>Checkpoint: 31:15.</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600"/>
              </a:spcAft>
            </a:pPr>
            <a:r>
              <a:rPr b="1"/>
              <a:t>31:15 → 34:30.</a:t>
            </a:r>
            <a:r>
              <a:rPr/>
              <a:t> Goal: compaction moves unchanged text every round; the setup, the three questions and the arms.</a:t>
            </a:r>
          </a:p>
          <a:p>
            <a:pPr>
              <a:spcAft>
                <a:spcPts val="600"/>
              </a:spcAft>
            </a:pPr>
            <a:r>
              <a:rPr/>
              <a:t>So why does this matter to us? Our agent harness runs a coding agent on real repositories, one tool call after another, and its history keeps growing.</a:t>
            </a:r>
          </a:p>
          <a:p>
            <a:pPr>
              <a:spcAft>
                <a:spcPts val="600"/>
              </a:spcAft>
            </a:pPr>
            <a:r>
              <a:rPr i="1"/>
              <a:t>(Point to "The problem".)</a:t>
            </a:r>
            <a:r>
              <a:rPr/>
              <a:t> When the history reaches its budget, the harness compacts it: old tool results become short notes, and old messages get archived. Once past that point, it compacts almost every round. Every compaction edits text early in the prompt, so every token after the first edit moves, and prefix caching re-prefills all of it, even though most of it didn't change.</a:t>
            </a:r>
          </a:p>
          <a:p>
            <a:pPr>
              <a:spcAft>
                <a:spcPts val="600"/>
              </a:spcAft>
            </a:pPr>
            <a:r>
              <a:rPr i="1"/>
              <a:t>(Point to the figure.)</a:t>
            </a:r>
            <a:r>
              <a:rPr/>
              <a:t> Here's one event, with the averages over all events. Call k minus 1 is the prompt before the compaction; call k is the prompt after it. The exact prefix, 3,191 tokens, is loaded as it is. Then a file read that this step evicted is replaced by a short note. Blocks 1 to 3 are unchanged text that simply moved left by δ: 4,648 tokens on average. And 1,215 tokens are genuinely new: the note, the new turn and the tail.</a:t>
            </a:r>
          </a:p>
          <a:p>
            <a:pPr>
              <a:spcAft>
                <a:spcPts val="600"/>
              </a:spcAft>
            </a:pPr>
            <a:r>
              <a:rPr i="1"/>
              <a:t>(Point to "The prize".)</a:t>
            </a:r>
            <a:r>
              <a:rPr/>
              <a:t> Those 4,648 moved tokens are the prize. Reusing them skips 79.6% of what prefix caching re-prefills. On Qwen3-32B the next request's first token arrives in 90 ms, against 765 ms with prefix caching and 1,097 ms with a full prefill.</a:t>
            </a:r>
          </a:p>
          <a:p>
            <a:pPr>
              <a:spcAft>
                <a:spcPts val="600"/>
              </a:spcAft>
            </a:pPr>
            <a:r>
              <a:rPr i="1"/>
              <a:t>(Point to "The data".)</a:t>
            </a:r>
            <a:r>
              <a:rPr/>
              <a:t> Our data: 500 live runs of real tasks on 10 Python codebases, giving 683 compaction events. Qwen3-32B produced the runs, and Qwen3-8B replays the same events. For each event we ask three questions. </a:t>
            </a:r>
            <a:r>
              <a:rPr b="1"/>
              <a:t>Natural</a:t>
            </a:r>
            <a:r>
              <a:rPr/>
              <a:t>: does the real next request come out the same as with a full prefill? </a:t>
            </a:r>
            <a:r>
              <a:rPr b="1"/>
              <a:t>Probe</a:t>
            </a:r>
            <a:r>
              <a:rPr/>
              <a:t>: we append a question with a known answer about a file that survived: explain it, modify it with an exact SEARCH/REPLACE edit, or make that edit as a tool call. </a:t>
            </a:r>
            <a:r>
              <a:rPr b="1"/>
              <a:t>Retention</a:t>
            </a:r>
            <a:r>
              <a:rPr/>
              <a:t>: we ask about a file this step evicted, and check whether the model admits it's gone.</a:t>
            </a:r>
          </a:p>
          <a:p>
            <a:pPr>
              <a:spcAft>
                <a:spcPts val="600"/>
              </a:spcAft>
            </a:pPr>
            <a:r>
              <a:rPr i="1"/>
              <a:t>(Point to the arms table.)</a:t>
            </a:r>
            <a:r>
              <a:rPr/>
              <a:t> And these are the arms. Three references: not compressed, as if the compaction never happened; prefix + prefill, which is standard prefix caching; and full prefill, the ground truth. Then no RoPE, which reuses the moved text at its old positions, and shift RoPE, which rotates it. And three repairs on top of shift RoPE: a random 15%, CacheBlend at 5 or 15%, and EPIC at 32 or 128 tokens per block. The last column says how much of the moved text each arm re-prefills.</a:t>
            </a:r>
          </a:p>
          <a:p>
            <a:pPr>
              <a:spcAft>
                <a:spcPts val="600"/>
              </a:spcAft>
            </a:pPr>
            <a:r>
              <a:rPr i="1"/>
              <a:t>If short:</a:t>
            </a:r>
            <a:r>
              <a:rPr/>
              <a:t> replace the arm-by-arm reading with "references, the rotation, and three repairs on top of it".</a:t>
            </a:r>
          </a:p>
          <a:p>
            <a:pPr>
              <a:spcAft>
                <a:spcPts val="200"/>
              </a:spcAft>
            </a:pPr>
            <a:r>
              <a:rPr b="1"/>
              <a:t>If asked</a:t>
            </a:r>
          </a:p>
          <a:p>
            <a:pPr>
              <a:spcAft>
                <a:spcPts val="600"/>
              </a:spcAft>
            </a:pPr>
            <a:r>
              <a:rPr b="1"/>
              <a:t>vLLM already does prefix caching, so why is full prefill the reference?</a:t>
            </a:r>
            <a:r>
              <a:rPr/>
              <a:t> Exact prefix reuse gives the same result up to numerical noise: prefix + prefill keeps 95.6% of rounds identical on the 32B, about the noise floor. So full prefill is the quality reference. For speed, the fair baseline is prefix + prefill, 765 ms on the 32B.</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600"/>
              </a:spcAft>
            </a:pPr>
            <a:r>
              <a:rPr b="1"/>
              <a:t>34:30 → 37:15.</a:t>
            </a:r>
            <a:r>
              <a:rPr/>
              <a:t> Goal: rotation is essential, the copy cost is repaired only by the right tokens, and EPIC is the most faithful.</a:t>
            </a:r>
          </a:p>
          <a:p>
            <a:pPr>
              <a:spcAft>
                <a:spcPts val="600"/>
              </a:spcAft>
            </a:pPr>
            <a:r>
              <a:rPr/>
              <a:t>Here's every arm on every metric for Qwen3-32B. It's a big table, so here's how to read it, and then the three things that matter.</a:t>
            </a:r>
          </a:p>
          <a:p>
            <a:pPr>
              <a:spcAft>
                <a:spcPts val="600"/>
              </a:spcAft>
            </a:pPr>
            <a:r>
              <a:rPr i="1"/>
              <a:t>(Point to the column groups.)</a:t>
            </a:r>
            <a:r>
              <a:rPr/>
              <a:t> Columns are grouped by question: cost, then natural, probe and retention. Red means significantly worse than full prefill, green means a cost that a repair fixed, and bold is the best repair.</a:t>
            </a:r>
          </a:p>
          <a:p>
            <a:pPr>
              <a:spcAft>
                <a:spcPts val="600"/>
              </a:spcAft>
            </a:pPr>
            <a:r>
              <a:rPr i="1"/>
              <a:t>(Point to the top three rows.)</a:t>
            </a:r>
            <a:r>
              <a:rPr/>
              <a:t> Before the three points, the reference rows. Every column is judged against full prefill, in two ways. The natural columns measure agreement with it, so its own row reads "ref". The probe and retention columns are absolute scores against a known answer, so full prefill gets a number too, and that number is the bar the red and green cells are tested against. A dash means we didn't run that combination. Prefix + prefill keeps 95.6% of rounds identical, about the noise floor, so exact reuse is safe, as it should be.</a:t>
            </a:r>
          </a:p>
          <a:p>
            <a:pPr>
              <a:spcAft>
                <a:spcPts val="600"/>
              </a:spcAft>
            </a:pPr>
            <a:r>
              <a:rPr i="1"/>
              <a:t>(Point to the no RoPE row.)</a:t>
            </a:r>
            <a:r>
              <a:rPr/>
              <a:t> One: rotation is essential. Without it, only 29% of next rounds match, 10.5% of tool calls are malformed, and every probe collapses.</a:t>
            </a:r>
          </a:p>
          <a:p>
            <a:pPr>
              <a:spcAft>
                <a:spcPts val="600"/>
              </a:spcAft>
            </a:pPr>
            <a:r>
              <a:rPr i="1"/>
              <a:t>(Point to the modify column.)</a:t>
            </a:r>
            <a:r>
              <a:rPr/>
              <a:t> Two: with rotation, almost everything holds up, except exact copying. The SEARCH/REPLACE edit needs the model to copy old code verbatim, and shift RoPE's pass rate falls from 72.6 to 61.1, an 11.5-point loss. </a:t>
            </a:r>
            <a:r>
              <a:rPr i="1"/>
              <a:t>(Slide down to the green cells.)</a:t>
            </a:r>
            <a:r>
              <a:rPr/>
              <a:t> Every non-random repair brings it back to full prefill's level, 72.0 to 74.5. A random 15% reaches only 65.0, and CacheBlend 15% and EPIC 128 each beat it head to head. So it's not how many tokens you re-prefill; it's which ones.</a:t>
            </a:r>
          </a:p>
          <a:p>
            <a:pPr>
              <a:spcAft>
                <a:spcPts val="600"/>
              </a:spcAft>
            </a:pPr>
            <a:r>
              <a:rPr i="1"/>
              <a:t>(Point to the KL and identical columns.)</a:t>
            </a:r>
            <a:r>
              <a:rPr/>
              <a:t> Three: fidelity. KL measures how far an arm's next-token probabilities are from full prefill's; zero means identical. Only EPIC nearly halves it, from 0.0213 to 0.0115, and EPIC 128 keeps the most rounds identical, 74.7%. That's still far below the 96% you get from two full prefills of the same prompt. For scale, look at "not compressed": simply undoing the compaction changes a third of next rounds too.</a:t>
            </a:r>
          </a:p>
          <a:p>
            <a:pPr>
              <a:spcAft>
                <a:spcPts val="600"/>
              </a:spcAft>
            </a:pPr>
            <a:r>
              <a:rPr i="1"/>
              <a:t>(Point to the TTFT column.)</a:t>
            </a:r>
            <a:r>
              <a:rPr/>
              <a:t> And the cost: shift RoPE answers in 90 ms, EPIC in 99 to 121, CacheBlend in 139 to 223, against 1,097 for a full prefill.</a:t>
            </a:r>
          </a:p>
          <a:p>
            <a:pPr>
              <a:spcAft>
                <a:spcPts val="600"/>
              </a:spcAft>
            </a:pPr>
            <a:r>
              <a:rPr i="1"/>
              <a:t>If short:</a:t>
            </a:r>
            <a:r>
              <a:rPr/>
              <a:t> say only point two and the TTFT column.</a:t>
            </a:r>
          </a:p>
          <a:p>
            <a:pPr>
              <a:spcAft>
                <a:spcPts val="200"/>
              </a:spcAft>
            </a:pPr>
            <a:r>
              <a:rPr b="1"/>
              <a:t>If asked</a:t>
            </a:r>
          </a:p>
          <a:p>
            <a:pPr>
              <a:spcAft>
                <a:spcPts val="600"/>
              </a:spcAft>
            </a:pPr>
            <a:r>
              <a:rPr b="1"/>
              <a:t>What exactly is the KL?</a:t>
            </a:r>
            <a:r>
              <a:rPr/>
              <a:t> For each token of the next round, it compares the next-token probability distribution under full prefill with the arm's, and averages over tokens, in nats. Zero means the two predict identically.</a:t>
            </a:r>
          </a:p>
          <a:p>
            <a:pPr>
              <a:spcAft>
                <a:spcPts val="600"/>
              </a:spcAft>
            </a:pPr>
            <a:r>
              <a:rPr b="1"/>
              <a:t>Where do the p-values come from?</a:t>
            </a:r>
            <a:r>
              <a:rPr/>
              <a:t> Exact McNemar tests, a paired test for yes/no outcomes. On the same events, it compares how often only arm A passes with how often only arm B passes; a lopsided split means a real difference. The 47 versus 20 on slide 14 are such counts.</a:t>
            </a:r>
          </a:p>
          <a:p>
            <a:pPr>
              <a:spcAft>
                <a:spcPts val="600"/>
              </a:spcAft>
            </a:pPr>
            <a:r>
              <a:rPr b="1"/>
              <a:t>Why do two full prefills of the same prompt disagree 4% of the time?</a:t>
            </a:r>
            <a:r>
              <a:rPr/>
              <a:t> GPU arithmetic depends slightly on how requests are batched. A tiny difference can flip one greedily chosen token, and the rest of the reply then diverges.</a:t>
            </a:r>
          </a:p>
          <a:p>
            <a:pPr>
              <a:spcAft>
                <a:spcPts val="600"/>
              </a:spcAft>
            </a:pPr>
            <a:r>
              <a:rPr b="1"/>
              <a:t>Why does "not compressed" match only 67%?</a:t>
            </a:r>
            <a:r>
              <a:rPr/>
              <a:t> It is the next round without the compaction, on the old history. So the compaction itself changes about a third of next rounds, and shift RoPE changes them about as often. The harm shows up in specific tests (copying on the 32B, eviction on the 8B), not in the raw identical-round rate.</a:t>
            </a:r>
          </a:p>
          <a:p>
            <a:pPr>
              <a:spcAft>
                <a:spcPts val="600"/>
              </a:spcAft>
            </a:pPr>
            <a:r>
              <a:rPr b="1"/>
              <a:t>What is a SEARCH/REPLACE edit?</a:t>
            </a:r>
            <a:r>
              <a:rPr/>
              <a:t> Aider's edit format: the model writes the exact old lines (SEARCH) and their replacement (REPLACE). The edit applies only if the SEARCH text matches the file character for character, so it tests verbatim copying from the context.</a:t>
            </a:r>
          </a:p>
          <a:p>
            <a:pPr>
              <a:spcAft>
                <a:spcPts val="600"/>
              </a:spcAft>
            </a:pPr>
            <a:r>
              <a:rPr b="1"/>
              <a:t>Is full prefill the same reference in every row?</a:t>
            </a:r>
            <a:r>
              <a:rPr/>
              <a:t> Almost. Not compressed, prefix + prefill and no RoPE were measured in the first run and compared with that run's own full prefill; the other rows were compared with the second run's, which is the row shown. The two full prefills score within 1.3 points of each other on Qwen3-32B and 0.6 on Qwen3-8B (modify, for example, 71.3 against 72.6, p = 0.62), so the difference is noise.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600"/>
              </a:spcAft>
            </a:pPr>
            <a:r>
              <a:rPr b="1"/>
              <a:t>37:15 → 39:00.</a:t>
            </a:r>
            <a:r>
              <a:rPr/>
              <a:t> Goal: the smaller model's cost is a different one, and only EPIC 128 repairs it.</a:t>
            </a:r>
          </a:p>
          <a:p>
            <a:pPr>
              <a:spcAft>
                <a:spcPts val="600"/>
              </a:spcAft>
            </a:pPr>
            <a:r>
              <a:rPr/>
              <a:t>Now Qwen3-8B, replaying the same events. The smaller model breaks somewhere else.</a:t>
            </a:r>
          </a:p>
          <a:p>
            <a:pPr>
              <a:spcAft>
                <a:spcPts val="600"/>
              </a:spcAft>
            </a:pPr>
            <a:r>
              <a:rPr i="1"/>
              <a:t>(Point to the no RoPE row.)</a:t>
            </a:r>
            <a:r>
              <a:rPr/>
              <a:t> Rotation matters even more on this model: without it, only 23.7% of rounds match and the KL is 1.90.</a:t>
            </a:r>
          </a:p>
          <a:p>
            <a:pPr>
              <a:spcAft>
                <a:spcPts val="600"/>
              </a:spcAft>
            </a:pPr>
            <a:r>
              <a:rPr i="1"/>
              <a:t>(Point to the modify column.)</a:t>
            </a:r>
            <a:r>
              <a:rPr/>
              <a:t> With rotation, copying is fine here: 71.3 against 72.6, not a significant difference.</a:t>
            </a:r>
          </a:p>
          <a:p>
            <a:pPr>
              <a:spcAft>
                <a:spcPts val="600"/>
              </a:spcAft>
            </a:pPr>
            <a:r>
              <a:rPr i="1"/>
              <a:t>(Point to the retention columns.)</a:t>
            </a:r>
            <a:r>
              <a:rPr/>
              <a:t> The cost is knowing what's gone. Asked about the evicted file, full prefill says "that file is gone" 57.5% of the time. With shift RoPE, only 38.2%, and wrong answers rise from 40.8 to 57.9. It isn't leaking the evicted file: recall of its content barely moves. The model just loses track of what it no longer has, and guesses.</a:t>
            </a:r>
          </a:p>
          <a:p>
            <a:pPr>
              <a:spcAft>
                <a:spcPts val="600"/>
              </a:spcAft>
            </a:pPr>
            <a:r>
              <a:rPr i="1"/>
              <a:t>(Point to the green cell in the EPIC 128 row.)</a:t>
            </a:r>
            <a:r>
              <a:rPr/>
              <a:t> EPIC 128 closes 89% of that gap: at 55.3% it's statistically indistinguishable from full prefill. CacheBlend and EPIC 32 close 45 to 66% and stay significantly below, and the random 15% closes 2%.</a:t>
            </a:r>
          </a:p>
          <a:p>
            <a:pPr>
              <a:spcAft>
                <a:spcPts val="600"/>
              </a:spcAft>
            </a:pPr>
            <a:r>
              <a:rPr i="1"/>
              <a:t>(Point to the KL and TTFT columns.)</a:t>
            </a:r>
            <a:r>
              <a:rPr/>
              <a:t> Fidelity tells the same story: EPIC 128 cuts KL from 0.0518 to 0.0218, 58% lower, and again keeps the most rounds identical, 75.7%. And the speed: 36 ms for shift RoPE, 38 to 42 for EPIC, 52 to 72 for CacheBlend, against 254 for a full prefill.</a:t>
            </a:r>
          </a:p>
          <a:p>
            <a:pPr>
              <a:spcAft>
                <a:spcPts val="200"/>
              </a:spcAft>
            </a:pPr>
            <a:r>
              <a:rPr b="1"/>
              <a:t>If asked</a:t>
            </a:r>
          </a:p>
          <a:p>
            <a:pPr>
              <a:spcAft>
                <a:spcPts val="600"/>
              </a:spcAft>
            </a:pPr>
            <a:r>
              <a:rPr b="1"/>
              <a:t>Why do the two models fail differently?</a:t>
            </a:r>
            <a:r>
              <a:rPr/>
              <a:t> We don't have a mechanistic explanation. Both costs come from cache computed in a context that no longer exists; which behaviour breaks depends on the model and the task.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600"/>
              </a:spcAft>
            </a:pPr>
            <a:r>
              <a:rPr b="1"/>
              <a:t>39:00 → 41:30.</a:t>
            </a:r>
            <a:r>
              <a:rPr/>
              <a:t> Goal: why the first tokens of each moved block are the right ones.</a:t>
            </a:r>
          </a:p>
          <a:p>
            <a:pPr>
              <a:spcAft>
                <a:spcPts val="600"/>
              </a:spcAft>
            </a:pPr>
            <a:r>
              <a:rPr/>
              <a:t>Why does EPIC's simple rule win? </a:t>
            </a:r>
            <a:r>
              <a:rPr i="1"/>
              <a:t>(Point to the left chart.)</a:t>
            </a:r>
            <a:r>
              <a:rPr/>
              <a:t> This is the share of each cost repaired: upper bars are the 32B copy cost, lower bars the 8B "gone" cost. Read them like this: 100%, the dashed line, means the arm got all the way back to full prefill, and zero means no better than shift RoPE. Blue, EPIC, is high on both. Orange, CacheBlend, repairs copying but only part of "gone". Grey, random, barely moves. </a:t>
            </a:r>
            <a:r>
              <a:rPr i="1"/>
              <a:t>(Point to the right chart.)</a:t>
            </a:r>
            <a:r>
              <a:rPr/>
              <a:t> The KL cut agrees: EPIC 128 cuts KL by 46 and 58%.</a:t>
            </a:r>
          </a:p>
          <a:p>
            <a:pPr>
              <a:spcAft>
                <a:spcPts val="600"/>
              </a:spcAft>
            </a:pPr>
            <a:r>
              <a:rPr i="1"/>
              <a:t>(Point to "Why the first tokens win".)</a:t>
            </a:r>
            <a:r>
              <a:rPr/>
              <a:t> The reason is the shape of a compaction. A moved block is a stretch of history that survived and moved as one piece, and each block starts right where the compaction deleted or replaced text. So a block's first tokens were computed right after text that is now gone, and their cached keys and values are the most out of date. It's "Her" from slide 6 all over again.</a:t>
            </a:r>
          </a:p>
          <a:p>
            <a:pPr>
              <a:spcAft>
                <a:spcPts val="600"/>
              </a:spcAft>
            </a:pPr>
            <a:r>
              <a:rPr/>
              <a:t>CacheBlend partly finds them: 14 to 16% of its picks land in a block's first 32 tokens, 3.2 to 3.5 times what random picks would give. But it spreads the rest thin, over about 427 separate little pieces per event, where EPIC re-prefills four solid ones, the start of each block. CacheBlend's signal is real, by the way: the top 5% of moved tokens carry 46% of the layer-1 deviation on the 32B and 61% on the 8B. It just spends its budget less well. At equal budgets EPIC keeps more next rounds identical to full prefill. For EPIC 32 against CacheBlend 5% on the 32B, there are 47 events where only EPIC matches, against 20 where only CacheBlend does.</a:t>
            </a:r>
          </a:p>
          <a:p>
            <a:pPr>
              <a:spcAft>
                <a:spcPts val="600"/>
              </a:spcAft>
            </a:pPr>
            <a:r>
              <a:rPr i="1"/>
              <a:t>(Point to "Cheap".)</a:t>
            </a:r>
            <a:r>
              <a:rPr/>
              <a:t> And it's cheap. EPIC 128 re-prefills 308 tokens per event on average, adding 27 ms to shift RoPE's 90 ms on Qwen3-32B.</a:t>
            </a:r>
          </a:p>
          <a:p>
            <a:pPr>
              <a:spcAft>
                <a:spcPts val="600"/>
              </a:spcAft>
            </a:pPr>
            <a:r>
              <a:rPr i="1"/>
              <a:t>If short:</a:t>
            </a:r>
            <a:r>
              <a:rPr/>
              <a:t> skip the equal-budget counts.</a:t>
            </a:r>
          </a:p>
          <a:p>
            <a:pPr>
              <a:spcAft>
                <a:spcPts val="200"/>
              </a:spcAft>
            </a:pPr>
            <a:r>
              <a:rPr b="1"/>
              <a:t>If asked</a:t>
            </a:r>
          </a:p>
          <a:p>
            <a:pPr>
              <a:spcAft>
                <a:spcPts val="600"/>
              </a:spcAft>
            </a:pPr>
            <a:r>
              <a:rPr b="1"/>
              <a:t>CacheBlend 5% repairs 117% of the 32B copy cost: is it better than full prefill?</a:t>
            </a:r>
            <a:r>
              <a:rPr/>
              <a:t> No, that's within noise. Probe results carry 95% intervals of about ±6–7 points, and 74.5 against 72.6 is not a significant difference.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600"/>
              </a:spcAft>
            </a:pPr>
            <a:r>
              <a:rPr b="1"/>
              <a:t>41:30 → 43:30.</a:t>
            </a:r>
            <a:r>
              <a:rPr/>
              <a:t> Goal: reuse saves the time; EPIC's repair costs little, CacheBlend's several times more.</a:t>
            </a:r>
          </a:p>
          <a:p>
            <a:pPr>
              <a:spcAft>
                <a:spcPts val="600"/>
              </a:spcAft>
            </a:pPr>
            <a:r>
              <a:rPr/>
              <a:t>Finally, time. We timed the real next request for 200 of the events, each run three times, on one H200 per model.</a:t>
            </a:r>
          </a:p>
          <a:p>
            <a:pPr>
              <a:spcAft>
                <a:spcPts val="600"/>
              </a:spcAft>
            </a:pPr>
            <a:r>
              <a:rPr i="1"/>
              <a:t>(Point to the left chart.)</a:t>
            </a:r>
            <a:r>
              <a:rPr/>
              <a:t> Reuse is what saves the time. On Qwen3-32B, full prefill takes 1,097 ms to the first token, prefix caching 765, and shift RoPE 90. The 8B shows the same pattern: 254, 184 and 36. Shift RoPE answers in 9% of full prefill's time on the 32B and 18% on the 8B, while prefix caching saves only 27 to 29%. Both panels use medians, so one slow request can't drag the numbers around.</a:t>
            </a:r>
          </a:p>
          <a:p>
            <a:pPr>
              <a:spcAft>
                <a:spcPts val="600"/>
              </a:spcAft>
            </a:pPr>
            <a:r>
              <a:rPr i="1"/>
              <a:t>(Point to the right panel.)</a:t>
            </a:r>
            <a:r>
              <a:rPr/>
              <a:t> The repairs add a little on top. On the 32B, EPIC adds 8 ms for EPIC 32 and 27 ms for EPIC 128; on the 8B, at most 5. CacheBlend adds 39 to 93 ms on the 32B, 3.5 to 5 times EPIC's addition at similar budgets, because it pays for a selection pass plus more tokens: CacheBlend 15% computes 666 more tokens than shift RoPE, EPIC 128 only 305.</a:t>
            </a:r>
          </a:p>
          <a:p>
            <a:pPr>
              <a:spcAft>
                <a:spcPts val="600"/>
              </a:spcAft>
            </a:pPr>
            <a:r>
              <a:rPr/>
              <a:t>One more detail: 25.5 of shift RoPE's 90 ms is just loading and re-rotating the moved cache, so a fused kernel could shrink it further.</a:t>
            </a:r>
          </a:p>
          <a:p>
            <a:pPr>
              <a:spcAft>
                <a:spcPts val="600"/>
              </a:spcAft>
            </a:pPr>
            <a:r>
              <a:rPr/>
              <a:t>The footer has the caveats: one request at a time, and our re-prefilled tokens attend to the whole context, so these are upper bounds.</a:t>
            </a:r>
          </a:p>
          <a:p>
            <a:pPr>
              <a:spcAft>
                <a:spcPts val="600"/>
              </a:spcAft>
            </a:pPr>
            <a:r>
              <a:rPr b="1"/>
              <a:t>Checkpoint: 43:30.</a:t>
            </a:r>
          </a:p>
          <a:p>
            <a:pPr>
              <a:spcAft>
                <a:spcPts val="200"/>
              </a:spcAft>
            </a:pPr>
            <a:r>
              <a:rPr b="1"/>
              <a:t>If asked</a:t>
            </a:r>
          </a:p>
          <a:p>
            <a:pPr>
              <a:spcAft>
                <a:spcPts val="600"/>
              </a:spcAft>
            </a:pPr>
            <a:r>
              <a:rPr b="1"/>
              <a:t>Why not simply re-prefill everything? It's about a second.</a:t>
            </a:r>
            <a:r>
              <a:rPr/>
              <a:t> On the 32B that second is 1,097 ms of GPU time per request, and the agent sends a request every round; on a shared server, that time is taken from other users. Time to first token is only part of a round, since the reply still has to be generated and tools run, so the end-to-end saving is smaller than the time-to-first-token ratio.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600"/>
              </a:spcAft>
            </a:pPr>
            <a:r>
              <a:rPr b="1"/>
              <a:t>43:30 → 45:00.</a:t>
            </a:r>
            <a:r>
              <a:rPr/>
              <a:t> Goal: four lines to take home.</a:t>
            </a:r>
          </a:p>
          <a:p>
            <a:pPr>
              <a:spcAft>
                <a:spcPts val="600"/>
              </a:spcAft>
            </a:pPr>
            <a:r>
              <a:rPr/>
              <a:t>Let me wrap up in four lines.</a:t>
            </a:r>
          </a:p>
          <a:p>
            <a:pPr>
              <a:spcAft>
                <a:spcPts val="600"/>
              </a:spcAft>
            </a:pPr>
            <a:r>
              <a:rPr/>
              <a:t>One: attention is a soft lookup over earlier tokens' keys and values. Keeping them, the KV cache, makes each new token cost one step, at 144 to 256 KiB per token on Qwen3, and engines reuse it only for an exact prefix.</a:t>
            </a:r>
          </a:p>
          <a:p>
            <a:pPr>
              <a:spcAft>
                <a:spcPts val="600"/>
              </a:spcAft>
            </a:pPr>
            <a:r>
              <a:rPr/>
              <a:t>Two: gluing separately cached pieces breaks for two reasons. B never attended to A, and RoPE can be fixed exactly only at layer 0; above it, the old position is baked in.</a:t>
            </a:r>
          </a:p>
          <a:p>
            <a:pPr>
              <a:spcAft>
                <a:spcPts val="600"/>
              </a:spcAft>
            </a:pPr>
            <a:r>
              <a:rPr/>
              <a:t>Three: one storyline, three papers. CacheBlend: attention is sparse, so re-prefill the few tokens that deviate most. EPIC: those few tokens are each chunk's first tokens, so re-prefill the first k. KVLink: first tokens still carry their own meaning, so train dedicated link tokens instead.</a:t>
            </a:r>
          </a:p>
          <a:p>
            <a:pPr>
              <a:spcAft>
                <a:spcPts val="600"/>
              </a:spcAft>
            </a:pPr>
            <a:r>
              <a:rPr/>
              <a:t>Four: in our agent, shift RoPE skips about 80% of the re-prefill work but costs 11.5 points of exact copying on the 32B and 19.3 points of admitting what's gone on the 8B. EPIC 128, re-prefilling 11% of the moved tokens, repairs both and roughly halves KL, for 27 extra milliseconds on the 32B. A random 15% repairs neither.</a:t>
            </a:r>
          </a:p>
          <a:p>
            <a:pPr>
              <a:spcAft>
                <a:spcPts val="600"/>
              </a:spcAft>
            </a:pPr>
            <a:r>
              <a:rPr i="1"/>
              <a:t>(Point to "Not covered".)</a:t>
            </a:r>
            <a:r>
              <a:rPr/>
              <a:t> What we didn't cover: staleness that compounds over many compactions in a row, since we measured one step, and throughput under concurrent load.</a:t>
            </a:r>
          </a:p>
          <a:p>
            <a:pPr>
              <a:spcAft>
                <a:spcPts val="600"/>
              </a:spcAft>
            </a:pPr>
            <a:r>
              <a:rPr/>
              <a:t>Thank you. Happy to take questions.</a:t>
            </a:r>
          </a:p>
          <a:p>
            <a:pPr>
              <a:spcAft>
                <a:spcPts val="200"/>
              </a:spcAft>
            </a:pPr>
            <a:r>
              <a:rPr b="1"/>
              <a:t>If asked</a:t>
            </a:r>
          </a:p>
          <a:p>
            <a:pPr>
              <a:spcAft>
                <a:spcPts val="600"/>
              </a:spcAft>
            </a:pPr>
            <a:r>
              <a:rPr b="1"/>
              <a:t>Only if asked. Does this work on MLA models such as DeepSeek's?</a:t>
            </a:r>
            <a:r>
              <a:rPr/>
              <a:t> We tested one MLA model, GLM-4.7-Flash. None of these token-level repairs fixed its copy cost. It's outside today's scope.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 descr="Reusing the KV cache when the prefix changes"/>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2" descr="A decoder-only transformer reads the prompt once, then writes one token at a time, feeding each new token back in"/>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3" descr="Attention is a soft lookup over earlier tokens' keys and values; keeping them (the KV cache) makes each new token cost one step"/>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4" descr="RoPE stores position as a rotation, so a cached key can be moved to a new position by rotating it again"/>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5" descr="vLLM and SGLang reuse KV only for an exact prefix: one early edit forces re-prefilling everything after it"/>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6" descr="Two separately prefilled sentences do not glue into one: B's cache never saw A, and above layer 0 its old position is baked in"/>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7" descr="CacheBlend re-prefills the ~15% of tokens whose cached KV deviates most, restoring attention across reused chunks"/>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8" descr="EPIC re-prefills only the first few tokens of each reused chunk, because those tokens become attention sinks"/>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9" descr="KVLink appends five trained link tokens to each cached document; they carry no meaning and exist only to read the documents before them"/>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0" descr="One storyline: a few tokens matter (CacheBlend), they are each chunk's first tokens (EPIC), and trained link tokens do their job better (KVLink)"/>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1" descr="Our agent rewrites its history almost every round, so prefix caching re-prefills unchanged text; reusing it could skip ~80% of that work"/>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2" descr="On Qwen3-32B, re-prefilling 4–5% of the moved tokens (EPIC or CacheBlend) restores SEARCH/REPLACE copies; a random 15% does not"/>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3" descr="On Qwen3-8B, re-prefilling each moved block's first 128 tokens restores “that file is gone” answers: 55%, against full prefill's 5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4" descr="Which tokens you re-prefill matters more than how many: the first tokens of each moved block beat both high-deviation and random picks"/>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5" descr="Reuse cuts Qwen3-32B's first-token time from 1,097 to 90 ms; EPIC's repair adds 8–27 ms, CacheBlend's 39–93 ms"/>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6" descr="Gluing cached pieces loses context and keeps old positions; re-prefilling each piece's first tokens repairs most of it, cheaply"/>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KV Reuse Beyond Prefixes</dc:title>
  <dc:subject>Paper reading: KV-cache reuse beyond exact prefixes (CacheBlend, EPIC, KVLink, our RoPE-shift runs)</dc:subject>
  <dc:creator>yq335@cornell.edu</dc:creator>
  <cp:keywords>KV cache; RoPE; CacheBlend; EPIC; KVLink; prefix caching</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